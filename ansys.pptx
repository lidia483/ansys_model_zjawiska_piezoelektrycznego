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94" r:id="rId1"/>
  </p:sldMasterIdLst>
  <p:sldIdLst>
    <p:sldId id="265" r:id="rId2"/>
    <p:sldId id="268" r:id="rId3"/>
    <p:sldId id="256" r:id="rId4"/>
    <p:sldId id="257" r:id="rId5"/>
    <p:sldId id="273" r:id="rId6"/>
    <p:sldId id="288" r:id="rId7"/>
    <p:sldId id="266" r:id="rId8"/>
    <p:sldId id="267" r:id="rId9"/>
    <p:sldId id="289" r:id="rId10"/>
    <p:sldId id="286" r:id="rId11"/>
    <p:sldId id="270" r:id="rId12"/>
    <p:sldId id="290" r:id="rId13"/>
    <p:sldId id="291" r:id="rId14"/>
    <p:sldId id="277" r:id="rId15"/>
    <p:sldId id="292" r:id="rId16"/>
    <p:sldId id="274" r:id="rId17"/>
    <p:sldId id="275" r:id="rId18"/>
    <p:sldId id="276" r:id="rId19"/>
    <p:sldId id="278" r:id="rId20"/>
    <p:sldId id="280" r:id="rId21"/>
    <p:sldId id="281" r:id="rId22"/>
    <p:sldId id="283" r:id="rId23"/>
    <p:sldId id="284" r:id="rId24"/>
    <p:sldId id="285" r:id="rId25"/>
    <p:sldId id="272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640" autoAdjust="0"/>
    <p:restoredTop sz="94726"/>
  </p:normalViewPr>
  <p:slideViewPr>
    <p:cSldViewPr snapToGrid="0">
      <p:cViewPr varScale="1">
        <p:scale>
          <a:sx n="120" d="100"/>
          <a:sy n="120" d="100"/>
        </p:scale>
        <p:origin x="48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9E117-FFC5-4ECD-A434-5CC66117220E}" type="datetimeFigureOut">
              <a:rPr lang="pl-PL" smtClean="0"/>
              <a:t>22.01.2026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31C26-A799-4E9C-9CE3-40D1F138B2B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3300769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9E117-FFC5-4ECD-A434-5CC66117220E}" type="datetimeFigureOut">
              <a:rPr lang="pl-PL" smtClean="0"/>
              <a:t>22.01.2026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31C26-A799-4E9C-9CE3-40D1F138B2B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821085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9E117-FFC5-4ECD-A434-5CC66117220E}" type="datetimeFigureOut">
              <a:rPr lang="pl-PL" smtClean="0"/>
              <a:t>22.01.2026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31C26-A799-4E9C-9CE3-40D1F138B2B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5571220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9E117-FFC5-4ECD-A434-5CC66117220E}" type="datetimeFigureOut">
              <a:rPr lang="pl-PL" smtClean="0"/>
              <a:t>22.01.2026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31C26-A799-4E9C-9CE3-40D1F138B2B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2475951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9E117-FFC5-4ECD-A434-5CC66117220E}" type="datetimeFigureOut">
              <a:rPr lang="pl-PL" smtClean="0"/>
              <a:t>22.01.2026</a:t>
            </a:fld>
            <a:endParaRPr lang="pl-P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31C26-A799-4E9C-9CE3-40D1F138B2B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469367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9E117-FFC5-4ECD-A434-5CC66117220E}" type="datetimeFigureOut">
              <a:rPr lang="pl-PL" smtClean="0"/>
              <a:t>22.01.2026</a:t>
            </a:fld>
            <a:endParaRPr lang="pl-P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31C26-A799-4E9C-9CE3-40D1F138B2B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4000398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9E117-FFC5-4ECD-A434-5CC66117220E}" type="datetimeFigureOut">
              <a:rPr lang="pl-PL" smtClean="0"/>
              <a:t>22.01.2026</a:t>
            </a:fld>
            <a:endParaRPr lang="pl-P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31C26-A799-4E9C-9CE3-40D1F138B2B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642370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9E117-FFC5-4ECD-A434-5CC66117220E}" type="datetimeFigureOut">
              <a:rPr lang="pl-PL" smtClean="0"/>
              <a:t>22.01.2026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31C26-A799-4E9C-9CE3-40D1F138B2B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2105262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9E117-FFC5-4ECD-A434-5CC66117220E}" type="datetimeFigureOut">
              <a:rPr lang="pl-PL" smtClean="0"/>
              <a:t>22.01.2026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31C26-A799-4E9C-9CE3-40D1F138B2B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240360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9E117-FFC5-4ECD-A434-5CC66117220E}" type="datetimeFigureOut">
              <a:rPr lang="pl-PL" smtClean="0"/>
              <a:t>22.01.2026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31C26-A799-4E9C-9CE3-40D1F138B2B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767606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9E117-FFC5-4ECD-A434-5CC66117220E}" type="datetimeFigureOut">
              <a:rPr lang="pl-PL" smtClean="0"/>
              <a:t>22.01.2026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31C26-A799-4E9C-9CE3-40D1F138B2B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098441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29E117-FFC5-4ECD-A434-5CC66117220E}" type="datetimeFigureOut">
              <a:rPr lang="pl-PL" smtClean="0"/>
              <a:t>22.01.2026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E31C26-A799-4E9C-9CE3-40D1F138B2B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10571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5" r:id="rId1"/>
    <p:sldLayoutId id="2147483896" r:id="rId2"/>
    <p:sldLayoutId id="2147483897" r:id="rId3"/>
    <p:sldLayoutId id="2147483898" r:id="rId4"/>
    <p:sldLayoutId id="2147483899" r:id="rId5"/>
    <p:sldLayoutId id="2147483900" r:id="rId6"/>
    <p:sldLayoutId id="2147483901" r:id="rId7"/>
    <p:sldLayoutId id="2147483902" r:id="rId8"/>
    <p:sldLayoutId id="2147483903" r:id="rId9"/>
    <p:sldLayoutId id="2147483904" r:id="rId10"/>
    <p:sldLayoutId id="2147483905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8">
            <a:extLst>
              <a:ext uri="{FF2B5EF4-FFF2-40B4-BE49-F238E27FC236}">
                <a16:creationId xmlns:a16="http://schemas.microsoft.com/office/drawing/2014/main" id="{A7895A40-19A4-42D6-9D30-DBC1E8002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10">
            <a:extLst>
              <a:ext uri="{FF2B5EF4-FFF2-40B4-BE49-F238E27FC236}">
                <a16:creationId xmlns:a16="http://schemas.microsoft.com/office/drawing/2014/main" id="{02F429C4-ABC9-46FC-818A-B5429CDE4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270325" y="3369273"/>
            <a:ext cx="32004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12">
            <a:extLst>
              <a:ext uri="{FF2B5EF4-FFF2-40B4-BE49-F238E27FC236}">
                <a16:creationId xmlns:a16="http://schemas.microsoft.com/office/drawing/2014/main" id="{2CEF98E4-3709-4952-8F42-2305CCE34F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374475" y="1040470"/>
            <a:ext cx="6858003" cy="477704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14">
            <a:extLst>
              <a:ext uri="{FF2B5EF4-FFF2-40B4-BE49-F238E27FC236}">
                <a16:creationId xmlns:a16="http://schemas.microsoft.com/office/drawing/2014/main" id="{F10BCCF5-D685-47FF-B675-647EAEB72C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7914" y="857786"/>
            <a:ext cx="11067024" cy="520893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570856E-E867-69B5-27B8-041693635D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966278" y="2577001"/>
            <a:ext cx="9910296" cy="159321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0" fontAlgn="base">
              <a:spcAft>
                <a:spcPct val="0"/>
              </a:spcAft>
              <a:buClrTx/>
              <a:buSzTx/>
              <a:tabLst/>
            </a:pPr>
            <a:r>
              <a:rPr kumimoji="0" lang="en-US" altLang="pl-PL" sz="4800" b="0" i="0" u="none" strike="noStrike" kern="12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 </a:t>
            </a:r>
            <a:r>
              <a:rPr kumimoji="0" lang="en-US" altLang="pl-PL" sz="4800" b="0" i="0" u="none" strike="noStrike" kern="1200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zjawiska</a:t>
            </a:r>
            <a:r>
              <a:rPr kumimoji="0" lang="en-US" altLang="pl-PL" sz="4800" b="0" i="0" u="none" strike="noStrike" kern="12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pl-PL" sz="4800" b="0" i="0" u="none" strike="noStrike" kern="1200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piezoelektrycznego</a:t>
            </a:r>
            <a:r>
              <a:rPr kumimoji="0" lang="en-US" altLang="pl-PL" sz="4800" b="0" i="0" u="none" strike="noStrike" kern="12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 </a:t>
            </a:r>
            <a:br>
              <a:rPr kumimoji="0" lang="en-US" altLang="pl-PL" sz="4800" b="0" i="0" u="none" strike="noStrike" kern="12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pl-PL" sz="4800" b="0" i="0" u="none" strike="noStrike" kern="1200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układzie</a:t>
            </a:r>
            <a:r>
              <a:rPr kumimoji="0" lang="en-US" altLang="pl-PL" sz="4800" b="0" i="0" u="none" strike="noStrike" kern="12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pl-PL" sz="4800" b="0" i="0" u="none" strike="noStrike" kern="1200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pojedynczym</a:t>
            </a:r>
            <a:r>
              <a:rPr kumimoji="0" lang="en-US" altLang="pl-PL" sz="4800" b="0" i="0" u="none" strike="noStrike" kern="12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pl-PL" sz="4800" b="0" i="0" u="none" strike="noStrike" kern="1200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0" lang="en-US" altLang="pl-PL" sz="4800" b="0" i="0" u="none" strike="noStrike" kern="12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pl-PL" sz="4800" b="0" i="0" u="none" strike="noStrike" kern="1200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bimorficznym</a:t>
            </a:r>
            <a:endParaRPr kumimoji="0" lang="en-US" altLang="pl-PL" sz="48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0EE8A42-107A-4D4C-8D56-BBAE95C7FC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524009" y="3366125"/>
            <a:ext cx="32004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F04EEE4F-D584-72F2-0CAC-F0BFB854AB6E}"/>
              </a:ext>
            </a:extLst>
          </p:cNvPr>
          <p:cNvSpPr txBox="1"/>
          <p:nvPr/>
        </p:nvSpPr>
        <p:spPr>
          <a:xfrm>
            <a:off x="8099744" y="5513035"/>
            <a:ext cx="3159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Opiekun </a:t>
            </a:r>
            <a:r>
              <a:rPr lang="pl-PL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dr.inż</a:t>
            </a:r>
            <a:r>
              <a:rPr lang="pl-PL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Bogdan </a:t>
            </a:r>
            <a:r>
              <a:rPr lang="pl-PL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Dziadak</a:t>
            </a:r>
            <a:endParaRPr lang="pl-PL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1647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7D962D-9110-937E-108B-4F5ED8CF1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8">
            <a:extLst>
              <a:ext uri="{FF2B5EF4-FFF2-40B4-BE49-F238E27FC236}">
                <a16:creationId xmlns:a16="http://schemas.microsoft.com/office/drawing/2014/main" id="{67AD5D0F-6E0A-78CD-43AC-3A083828C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10">
            <a:extLst>
              <a:ext uri="{FF2B5EF4-FFF2-40B4-BE49-F238E27FC236}">
                <a16:creationId xmlns:a16="http://schemas.microsoft.com/office/drawing/2014/main" id="{9E703C01-7B0D-2512-70F4-F637356CF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270325" y="3369273"/>
            <a:ext cx="32004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12">
            <a:extLst>
              <a:ext uri="{FF2B5EF4-FFF2-40B4-BE49-F238E27FC236}">
                <a16:creationId xmlns:a16="http://schemas.microsoft.com/office/drawing/2014/main" id="{9A348DF6-6CD8-84A9-F290-0ECF8E6D1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374475" y="1040470"/>
            <a:ext cx="6858003" cy="477704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14">
            <a:extLst>
              <a:ext uri="{FF2B5EF4-FFF2-40B4-BE49-F238E27FC236}">
                <a16:creationId xmlns:a16="http://schemas.microsoft.com/office/drawing/2014/main" id="{455B081C-79D8-BAA9-D2C2-FF6000396A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7914" y="857786"/>
            <a:ext cx="11067024" cy="520893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5019B4D-34D2-C479-CA7C-CDF6D48F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524009" y="3366125"/>
            <a:ext cx="32004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B763059-C567-FDD2-77AA-2D49EBB460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296" y="1995764"/>
            <a:ext cx="10986500" cy="26161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l-PL" sz="3600" noProof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kumimoji="0" lang="pl-PL" sz="3600" b="0" i="0" u="none" strike="noStrike" cap="none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jawisko piezoelektryczne w układzie pojedynczym </a:t>
            </a:r>
            <a:endParaRPr kumimoji="0" lang="pl-PL" sz="3600" b="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pl-PL" sz="3200" noProof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piezoelektryk z </a:t>
            </a:r>
            <a:r>
              <a:rPr kumimoji="0" lang="pl-PL" sz="3200" b="0" i="0" u="none" strike="noStrike" cap="none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ceramiki i polimeru</a:t>
            </a:r>
            <a:endParaRPr kumimoji="0" lang="pl-PL" sz="3200" b="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l-PL" sz="3200" b="0" i="0" u="none" strike="noStrike" cap="none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zasymulować ugięcie w funkcji siły wyginającej </a:t>
            </a:r>
            <a:r>
              <a:rPr kumimoji="0" lang="pl-PL" sz="3200" b="0" i="0" u="none" strike="noStrike" cap="none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piezoelektryka</a:t>
            </a:r>
            <a:r>
              <a:rPr kumimoji="0" lang="pl-PL" sz="3200" b="0" i="0" u="none" strike="noStrike" cap="none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pl-PL" sz="3200" b="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l-PL" sz="3200" b="0" i="0" u="none" strike="noStrike" cap="none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zasymulować napięcie wyjściowe z </a:t>
            </a:r>
            <a:r>
              <a:rPr kumimoji="0" lang="pl-PL" sz="3200" b="0" i="0" u="none" strike="noStrike" cap="none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piezoelektryka</a:t>
            </a:r>
            <a:r>
              <a:rPr kumimoji="0" lang="pl-PL" sz="3200" b="0" i="0" u="none" strike="noStrike" cap="none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w funkcji ugięcia </a:t>
            </a:r>
            <a:r>
              <a:rPr lang="pl-PL" sz="3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kumimoji="0" lang="pl-PL" sz="3200" b="0" i="0" u="none" strike="noStrike" cap="none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częstotliwości drgań </a:t>
            </a:r>
          </a:p>
        </p:txBody>
      </p:sp>
    </p:spTree>
    <p:extLst>
      <p:ext uri="{BB962C8B-B14F-4D97-AF65-F5344CB8AC3E}">
        <p14:creationId xmlns:p14="http://schemas.microsoft.com/office/powerpoint/2010/main" val="14740843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8E269EC-1CD6-E70B-2E06-111F6ACBC7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9708" y="666351"/>
            <a:ext cx="10558405" cy="3044335"/>
          </a:xfrm>
        </p:spPr>
        <p:txBody>
          <a:bodyPr anchor="b">
            <a:normAutofit/>
          </a:bodyPr>
          <a:lstStyle/>
          <a:p>
            <a:endParaRPr lang="pl-PL" sz="4800">
              <a:solidFill>
                <a:schemeClr val="bg1"/>
              </a:solidFill>
            </a:endParaRP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53F709E6-4062-4397-C3D5-A4165062AF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9708" y="3866064"/>
            <a:ext cx="10558405" cy="2234485"/>
          </a:xfrm>
        </p:spPr>
        <p:txBody>
          <a:bodyPr anchor="t">
            <a:normAutofit/>
          </a:bodyPr>
          <a:lstStyle/>
          <a:p>
            <a:endParaRPr lang="pl-PL">
              <a:solidFill>
                <a:schemeClr val="bg1"/>
              </a:solidFill>
            </a:endParaRPr>
          </a:p>
        </p:txBody>
      </p:sp>
      <p:pic>
        <p:nvPicPr>
          <p:cNvPr id="6" name="Obraz 5" descr="Obraz zawierający tekst, zrzut ekranu, oprogramowanie, multimedia&#10;&#10;Zawartość wygenerowana przez AI może być niepoprawna.">
            <a:extLst>
              <a:ext uri="{FF2B5EF4-FFF2-40B4-BE49-F238E27FC236}">
                <a16:creationId xmlns:a16="http://schemas.microsoft.com/office/drawing/2014/main" id="{46D3F038-5D51-E832-17D2-395C8806E2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9251" y="249602"/>
            <a:ext cx="8057272" cy="3877832"/>
          </a:xfrm>
          <a:prstGeom prst="rect">
            <a:avLst/>
          </a:prstGeom>
        </p:spPr>
      </p:pic>
      <p:pic>
        <p:nvPicPr>
          <p:cNvPr id="37" name="Obraz 36" descr="Obraz zawierający zrzut ekranu, Prostokąt, linia, design&#10;&#10;Zawartość wygenerowana przez AI może być niepoprawna.">
            <a:extLst>
              <a:ext uri="{FF2B5EF4-FFF2-40B4-BE49-F238E27FC236}">
                <a16:creationId xmlns:a16="http://schemas.microsoft.com/office/drawing/2014/main" id="{157ED2E9-AD4E-8EBF-928B-319D1E7B00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795"/>
          <a:stretch>
            <a:fillRect/>
          </a:stretch>
        </p:blipFill>
        <p:spPr>
          <a:xfrm>
            <a:off x="970113" y="3866064"/>
            <a:ext cx="10251774" cy="2932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5836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5316330-5967-7FEE-4F33-83A460C53E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  <p:pic>
        <p:nvPicPr>
          <p:cNvPr id="4" name="Symbol zastępczy zawartości 6" descr="Obraz zawierający krąg, zrzut ekranu, design&#10;&#10;Zawartość wygenerowana przez AI może być niepoprawna.">
            <a:extLst>
              <a:ext uri="{FF2B5EF4-FFF2-40B4-BE49-F238E27FC236}">
                <a16:creationId xmlns:a16="http://schemas.microsoft.com/office/drawing/2014/main" id="{08938057-E4EA-07EE-8933-CE578C162C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479" y="1808847"/>
            <a:ext cx="8018980" cy="4351338"/>
          </a:xfrm>
          <a:prstGeom prst="rect">
            <a:avLst/>
          </a:prstGeom>
        </p:spPr>
      </p:pic>
      <p:sp>
        <p:nvSpPr>
          <p:cNvPr id="6" name="Tytuł 1">
            <a:extLst>
              <a:ext uri="{FF2B5EF4-FFF2-40B4-BE49-F238E27FC236}">
                <a16:creationId xmlns:a16="http://schemas.microsoft.com/office/drawing/2014/main" id="{141293A5-99E7-8754-B9ED-EA57A1E7C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2542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pl-PL" sz="2000" dirty="0"/>
              <a:t>Układ pojedynczy </a:t>
            </a:r>
            <a:br>
              <a:rPr lang="pl-PL" sz="2000" dirty="0"/>
            </a:br>
            <a:r>
              <a:rPr lang="pl-PL" sz="2000" dirty="0"/>
              <a:t>Belka- tytan </a:t>
            </a:r>
            <a:br>
              <a:rPr lang="pl-PL" sz="2000" dirty="0"/>
            </a:br>
            <a:r>
              <a:rPr lang="pl-PL" sz="2000" dirty="0"/>
              <a:t>Piezo- polimer</a:t>
            </a:r>
            <a:br>
              <a:rPr lang="pl-PL" sz="2000" dirty="0"/>
            </a:br>
            <a:r>
              <a:rPr lang="pl-PL" sz="2000" dirty="0"/>
              <a:t>Masa - tungsten</a:t>
            </a:r>
            <a:br>
              <a:rPr lang="pl-PL" sz="2000" dirty="0"/>
            </a:br>
            <a:endParaRPr lang="pl-PL" sz="2000" dirty="0"/>
          </a:p>
        </p:txBody>
      </p:sp>
    </p:spTree>
    <p:extLst>
      <p:ext uri="{BB962C8B-B14F-4D97-AF65-F5344CB8AC3E}">
        <p14:creationId xmlns:p14="http://schemas.microsoft.com/office/powerpoint/2010/main" val="34959526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B70F370-15F9-8F4F-16B6-62F9D6B83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1022"/>
            <a:ext cx="10515600" cy="1325563"/>
          </a:xfrm>
        </p:spPr>
        <p:txBody>
          <a:bodyPr>
            <a:normAutofit/>
          </a:bodyPr>
          <a:lstStyle/>
          <a:p>
            <a:r>
              <a:rPr lang="pl-PL" sz="3200" dirty="0"/>
              <a:t>Max 18,84 </a:t>
            </a:r>
            <a:r>
              <a:rPr lang="pl-PL" sz="3200" dirty="0" err="1"/>
              <a:t>Hz</a:t>
            </a:r>
            <a:endParaRPr lang="pl-PL" sz="3200" dirty="0"/>
          </a:p>
        </p:txBody>
      </p:sp>
      <p:pic>
        <p:nvPicPr>
          <p:cNvPr id="4" name="Systems B,C,D - Mechanical [Ansys Mechanical Enterprise] 2025-12-14 18-59-17">
            <a:hlinkClick r:id="" action="ppaction://media"/>
            <a:extLst>
              <a:ext uri="{FF2B5EF4-FFF2-40B4-BE49-F238E27FC236}">
                <a16:creationId xmlns:a16="http://schemas.microsoft.com/office/drawing/2014/main" id="{0B6264F2-4FBE-DD91-689F-6F242BA99709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r="33306" b="33092"/>
          <a:stretch>
            <a:fillRect/>
          </a:stretch>
        </p:blipFill>
        <p:spPr>
          <a:xfrm>
            <a:off x="1203498" y="1152403"/>
            <a:ext cx="9785004" cy="5337606"/>
          </a:xfrm>
        </p:spPr>
      </p:pic>
    </p:spTree>
    <p:extLst>
      <p:ext uri="{BB962C8B-B14F-4D97-AF65-F5344CB8AC3E}">
        <p14:creationId xmlns:p14="http://schemas.microsoft.com/office/powerpoint/2010/main" val="17072323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8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2A4EB33-4C1A-203C-16FC-80F6529C9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/>
          </a:p>
        </p:txBody>
      </p:sp>
      <p:pic>
        <p:nvPicPr>
          <p:cNvPr id="5" name="Symbol zastępczy zawartości 4" descr="Obraz zawierający tekst, zrzut ekranu, Oprogramowanie graficzne, Oprogramowanie multimedialne&#10;&#10;Zawartość wygenerowana przez AI może być niepoprawna.">
            <a:extLst>
              <a:ext uri="{FF2B5EF4-FFF2-40B4-BE49-F238E27FC236}">
                <a16:creationId xmlns:a16="http://schemas.microsoft.com/office/drawing/2014/main" id="{72B8C830-937A-D248-43C8-19912AD8A4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265785"/>
            <a:ext cx="10515600" cy="347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84286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8C8E724-3618-DE69-A3FF-6C935BFFE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0AF030B0-89CC-C639-7FF1-DDCB64622D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  <p:pic>
        <p:nvPicPr>
          <p:cNvPr id="7" name="Obraz 6" descr="Obraz zawierający tekst, zrzut ekranu, diagram, linia&#10;&#10;Zawartość wygenerowana przez AI może być niepoprawna.">
            <a:extLst>
              <a:ext uri="{FF2B5EF4-FFF2-40B4-BE49-F238E27FC236}">
                <a16:creationId xmlns:a16="http://schemas.microsoft.com/office/drawing/2014/main" id="{77597522-02D5-9C49-7BE2-4322FDFF9A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026" y="173960"/>
            <a:ext cx="10385947" cy="6271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502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90666CD-A1E3-B679-EEDE-56E72562D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503" y="0"/>
            <a:ext cx="10515600" cy="1325563"/>
          </a:xfrm>
        </p:spPr>
        <p:txBody>
          <a:bodyPr>
            <a:normAutofit/>
          </a:bodyPr>
          <a:lstStyle/>
          <a:p>
            <a:endParaRPr lang="pl-PL" sz="3200" dirty="0"/>
          </a:p>
        </p:txBody>
      </p:sp>
      <p:pic>
        <p:nvPicPr>
          <p:cNvPr id="6" name="Symbol zastępczy zawartości 5" descr="Obraz zawierający tekst, zrzut ekranu, linia, diagram&#10;&#10;Zawartość wygenerowana przez AI może być niepoprawna.">
            <a:extLst>
              <a:ext uri="{FF2B5EF4-FFF2-40B4-BE49-F238E27FC236}">
                <a16:creationId xmlns:a16="http://schemas.microsoft.com/office/drawing/2014/main" id="{FB9F0DAF-4BD8-6496-FC58-279C2F47E7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41896" y="225288"/>
            <a:ext cx="9675275" cy="5915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9276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E83EAC1-B863-B76C-FB27-9BB5D060B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78CB263C-B654-5141-443D-3C33EB623C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 dirty="0"/>
          </a:p>
        </p:txBody>
      </p:sp>
      <p:pic>
        <p:nvPicPr>
          <p:cNvPr id="6" name="Obraz 5" descr="Obraz zawierający tekst, zrzut ekranu, diagram, linia&#10;&#10;Zawartość wygenerowana przez AI może być niepoprawna.">
            <a:extLst>
              <a:ext uri="{FF2B5EF4-FFF2-40B4-BE49-F238E27FC236}">
                <a16:creationId xmlns:a16="http://schemas.microsoft.com/office/drawing/2014/main" id="{2A771898-7B5B-4026-C223-D2DFAE556E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915" y="219106"/>
            <a:ext cx="10471342" cy="6419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4018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C598CC8-309D-9932-5BFA-27ADEC315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/>
          </a:p>
        </p:txBody>
      </p:sp>
      <p:pic>
        <p:nvPicPr>
          <p:cNvPr id="5" name="Symbol zastępczy zawartości 4" descr="Obraz zawierający tekst, zrzut ekranu, diagram, linia&#10;&#10;Zawartość wygenerowana przez AI może być niepoprawna.">
            <a:extLst>
              <a:ext uri="{FF2B5EF4-FFF2-40B4-BE49-F238E27FC236}">
                <a16:creationId xmlns:a16="http://schemas.microsoft.com/office/drawing/2014/main" id="{AF56D8D4-A9DE-BA86-D31A-EC518FE305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46037" y="446049"/>
            <a:ext cx="9195504" cy="5655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2443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61826-E4D2-5565-B81B-291D18EBD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8">
            <a:extLst>
              <a:ext uri="{FF2B5EF4-FFF2-40B4-BE49-F238E27FC236}">
                <a16:creationId xmlns:a16="http://schemas.microsoft.com/office/drawing/2014/main" id="{DD91E826-25E8-5507-8F61-C7472FAECA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10">
            <a:extLst>
              <a:ext uri="{FF2B5EF4-FFF2-40B4-BE49-F238E27FC236}">
                <a16:creationId xmlns:a16="http://schemas.microsoft.com/office/drawing/2014/main" id="{024CFB91-0087-5613-16EB-B30A5508A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270325" y="3369273"/>
            <a:ext cx="32004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12">
            <a:extLst>
              <a:ext uri="{FF2B5EF4-FFF2-40B4-BE49-F238E27FC236}">
                <a16:creationId xmlns:a16="http://schemas.microsoft.com/office/drawing/2014/main" id="{40DE68B4-310D-DEEB-DC57-C5BD67B31E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374475" y="1040470"/>
            <a:ext cx="6858003" cy="477704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14">
            <a:extLst>
              <a:ext uri="{FF2B5EF4-FFF2-40B4-BE49-F238E27FC236}">
                <a16:creationId xmlns:a16="http://schemas.microsoft.com/office/drawing/2014/main" id="{B3BA3481-3FF7-851C-172C-807A115F3E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7914" y="857786"/>
            <a:ext cx="11067024" cy="520893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757A797-7A64-1D01-536E-BE4396949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524009" y="3366125"/>
            <a:ext cx="32004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6A1BB60-5D34-593F-FF83-9B824031B1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296" y="1995764"/>
            <a:ext cx="10986500" cy="26161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4400"/>
            <a:r>
              <a:rPr lang="pl-PL" sz="3600" noProof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kumimoji="0" lang="pl-PL" sz="3600" b="0" i="0" u="none" strike="noStrike" cap="none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jawisko piezoelektryczne w układzie </a:t>
            </a:r>
            <a:r>
              <a:rPr lang="pl-PL" sz="3600" noProof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bimorficznym </a:t>
            </a:r>
            <a:endParaRPr kumimoji="0" lang="pl-PL" sz="3600" b="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pl-PL" sz="3200" noProof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piezoelektryk z </a:t>
            </a:r>
            <a:r>
              <a:rPr kumimoji="0" lang="pl-PL" sz="3200" b="0" i="0" u="none" strike="noStrike" cap="none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ceramiki i polimeru</a:t>
            </a:r>
            <a:endParaRPr kumimoji="0" lang="pl-PL" sz="3200" b="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l-PL" sz="3200" b="0" i="0" u="none" strike="noStrike" cap="none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zasymulować ugięcie w funkcji siły wyginającej </a:t>
            </a:r>
            <a:r>
              <a:rPr kumimoji="0" lang="pl-PL" sz="3200" b="0" i="0" u="none" strike="noStrike" cap="none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piezoelektryka</a:t>
            </a:r>
            <a:r>
              <a:rPr kumimoji="0" lang="pl-PL" sz="3200" b="0" i="0" u="none" strike="noStrike" cap="none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pl-PL" sz="3200" b="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l-PL" sz="3200" b="0" i="0" u="none" strike="noStrike" cap="none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zasymulować napięcie wyjściowe z </a:t>
            </a:r>
            <a:r>
              <a:rPr kumimoji="0" lang="pl-PL" sz="3200" b="0" i="0" u="none" strike="noStrike" cap="none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piezoelektryka</a:t>
            </a:r>
            <a:r>
              <a:rPr kumimoji="0" lang="pl-PL" sz="3200" b="0" i="0" u="none" strike="noStrike" cap="none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w funkcji ugięcia </a:t>
            </a:r>
            <a:r>
              <a:rPr lang="pl-PL" sz="3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kumimoji="0" lang="pl-PL" sz="3200" b="0" i="0" u="none" strike="noStrike" cap="none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częstotliwości drgań </a:t>
            </a:r>
          </a:p>
        </p:txBody>
      </p:sp>
    </p:spTree>
    <p:extLst>
      <p:ext uri="{BB962C8B-B14F-4D97-AF65-F5344CB8AC3E}">
        <p14:creationId xmlns:p14="http://schemas.microsoft.com/office/powerpoint/2010/main" val="36421234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Symbol zastępczy zawartości 5" descr="Obraz zawierający niebo, zrzut ekranu, Prostokąt, design&#10;&#10;Zawartość wygenerowana przez AI może być niepoprawna.">
            <a:extLst>
              <a:ext uri="{FF2B5EF4-FFF2-40B4-BE49-F238E27FC236}">
                <a16:creationId xmlns:a16="http://schemas.microsoft.com/office/drawing/2014/main" id="{8DEDC1C3-77E0-A9C6-F63E-DF1C626459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53205" y="1063133"/>
            <a:ext cx="8317726" cy="5198579"/>
          </a:xfrm>
          <a:prstGeom prst="rect">
            <a:avLst/>
          </a:prstGeom>
        </p:spPr>
      </p:pic>
      <p:sp>
        <p:nvSpPr>
          <p:cNvPr id="4" name="Tytuł 1">
            <a:extLst>
              <a:ext uri="{FF2B5EF4-FFF2-40B4-BE49-F238E27FC236}">
                <a16:creationId xmlns:a16="http://schemas.microsoft.com/office/drawing/2014/main" id="{8280B86C-6D29-9630-2099-BCA589897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pl-PL" sz="2000" dirty="0"/>
              <a:t>Układ bimorficzny </a:t>
            </a:r>
            <a:br>
              <a:rPr lang="pl-PL" sz="2000" dirty="0"/>
            </a:br>
            <a:r>
              <a:rPr lang="pl-PL" sz="2000" dirty="0"/>
              <a:t>Belka- tytan </a:t>
            </a:r>
            <a:br>
              <a:rPr lang="pl-PL" sz="2000" dirty="0"/>
            </a:br>
            <a:r>
              <a:rPr lang="pl-PL" sz="2000" dirty="0"/>
              <a:t>Piezo- polimer</a:t>
            </a:r>
            <a:br>
              <a:rPr lang="pl-PL" sz="2000" dirty="0"/>
            </a:br>
            <a:r>
              <a:rPr lang="pl-PL" sz="2000" dirty="0"/>
              <a:t>Masa - tungsten</a:t>
            </a:r>
            <a:br>
              <a:rPr lang="pl-PL" sz="2000" dirty="0"/>
            </a:br>
            <a:endParaRPr lang="pl-PL" sz="2000" dirty="0"/>
          </a:p>
        </p:txBody>
      </p:sp>
    </p:spTree>
    <p:extLst>
      <p:ext uri="{BB962C8B-B14F-4D97-AF65-F5344CB8AC3E}">
        <p14:creationId xmlns:p14="http://schemas.microsoft.com/office/powerpoint/2010/main" val="32470327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C37D080-5E55-7461-9874-5D94385FC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7262E040-3FF0-A35A-46A2-3B9FE12B56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 dirty="0"/>
          </a:p>
        </p:txBody>
      </p:sp>
      <p:pic>
        <p:nvPicPr>
          <p:cNvPr id="5" name="Obraz 4" descr="Obraz zawierający tekst, zrzut ekranu, oprogramowanie, Oprogramowanie multimedialne&#10;&#10;Zawartość wygenerowana przez AI może być niepoprawna.">
            <a:extLst>
              <a:ext uri="{FF2B5EF4-FFF2-40B4-BE49-F238E27FC236}">
                <a16:creationId xmlns:a16="http://schemas.microsoft.com/office/drawing/2014/main" id="{D1FDD131-E45C-C6AD-7A6B-D76102B500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347" y="838112"/>
            <a:ext cx="9643145" cy="5424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7100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9E8D6AC-04BC-696A-6909-15F743A6C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/>
          </a:p>
        </p:txBody>
      </p:sp>
      <p:pic>
        <p:nvPicPr>
          <p:cNvPr id="5" name="Symbol zastępczy zawartości 4" descr="Obraz zawierający tekst, zrzut ekranu, diagram, linia&#10;&#10;Zawartość wygenerowana przez AI może być niepoprawna.">
            <a:extLst>
              <a:ext uri="{FF2B5EF4-FFF2-40B4-BE49-F238E27FC236}">
                <a16:creationId xmlns:a16="http://schemas.microsoft.com/office/drawing/2014/main" id="{0CA6D892-CD55-F58F-37E1-F12BFDE887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65597" y="432668"/>
            <a:ext cx="9564928" cy="5860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6047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5C2E3A9-640D-05F0-E26F-27A62E7D8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/>
          </a:p>
        </p:txBody>
      </p:sp>
      <p:pic>
        <p:nvPicPr>
          <p:cNvPr id="5" name="Symbol zastępczy zawartości 4" descr="Obraz zawierający tekst, zrzut ekranu, linia, Równolegle&#10;&#10;Zawartość wygenerowana przez AI może być niepoprawna.">
            <a:extLst>
              <a:ext uri="{FF2B5EF4-FFF2-40B4-BE49-F238E27FC236}">
                <a16:creationId xmlns:a16="http://schemas.microsoft.com/office/drawing/2014/main" id="{8E613568-0EBE-CBCD-A46D-8482853CBA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98742" y="490756"/>
            <a:ext cx="9213111" cy="5640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9702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13BC34B-88CC-CB4C-92C6-0B253AB58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/>
          </a:p>
        </p:txBody>
      </p:sp>
      <p:pic>
        <p:nvPicPr>
          <p:cNvPr id="9" name="Symbol zastępczy zawartości 8" descr="Obraz zawierający tekst, zrzut ekranu, linia, diagram&#10;&#10;Zawartość wygenerowana przez AI może być niepoprawna.">
            <a:extLst>
              <a:ext uri="{FF2B5EF4-FFF2-40B4-BE49-F238E27FC236}">
                <a16:creationId xmlns:a16="http://schemas.microsoft.com/office/drawing/2014/main" id="{433679FA-9721-D29B-C316-7793449804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52551" y="482366"/>
            <a:ext cx="9397895" cy="5673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7155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CC078C6-E9DD-B841-FF66-7787DEF3C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/>
          </a:p>
        </p:txBody>
      </p:sp>
      <p:pic>
        <p:nvPicPr>
          <p:cNvPr id="5" name="Symbol zastępczy zawartości 4" descr="Obraz zawierający tekst, zrzut ekranu, diagram, linia&#10;&#10;Zawartość wygenerowana przez AI może być niepoprawna.">
            <a:extLst>
              <a:ext uri="{FF2B5EF4-FFF2-40B4-BE49-F238E27FC236}">
                <a16:creationId xmlns:a16="http://schemas.microsoft.com/office/drawing/2014/main" id="{A6471509-CFC0-B089-8F7D-6F904AEE86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88870" y="521878"/>
            <a:ext cx="9214260" cy="5668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662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1911960-23D3-ED7B-08B8-F073EFC91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/>
          </a:p>
        </p:txBody>
      </p:sp>
      <p:pic>
        <p:nvPicPr>
          <p:cNvPr id="5" name="Symbol zastępczy zawartości 4" descr="Obraz zawierający tekst, zrzut ekranu, design&#10;&#10;Zawartość wygenerowana przez AI może być niepoprawna.">
            <a:extLst>
              <a:ext uri="{FF2B5EF4-FFF2-40B4-BE49-F238E27FC236}">
                <a16:creationId xmlns:a16="http://schemas.microsoft.com/office/drawing/2014/main" id="{59703CAD-8E64-CE3D-BB1B-175380AEC5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31208"/>
            <a:ext cx="10515600" cy="3940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9927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F3A5FBC-3190-5752-96B5-67A938D5F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/>
          </a:p>
        </p:txBody>
      </p: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B7A95691-BB2B-783A-8309-E821EEE733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9780" y="4161899"/>
            <a:ext cx="10660937" cy="1293273"/>
          </a:xfrm>
          <a:prstGeom prst="rect">
            <a:avLst/>
          </a:prstGeom>
        </p:spPr>
      </p:pic>
      <p:pic>
        <p:nvPicPr>
          <p:cNvPr id="7" name="Obraz 6">
            <a:extLst>
              <a:ext uri="{FF2B5EF4-FFF2-40B4-BE49-F238E27FC236}">
                <a16:creationId xmlns:a16="http://schemas.microsoft.com/office/drawing/2014/main" id="{B2A3AD8C-60BA-940F-F4F3-9DD03FF8C1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781" y="2643465"/>
            <a:ext cx="10515600" cy="1284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24143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C705857-0F88-A358-A3FD-BF8FF5AAA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/>
          </a:p>
        </p:txBody>
      </p:sp>
      <p:pic>
        <p:nvPicPr>
          <p:cNvPr id="5" name="Symbol zastępczy zawartości 4" descr="Obraz zawierający tekst, zrzut ekranu, oprogramowanie, Oprogramowanie multimedialne&#10;&#10;Zawartość wygenerowana przez AI może być niepoprawna.">
            <a:extLst>
              <a:ext uri="{FF2B5EF4-FFF2-40B4-BE49-F238E27FC236}">
                <a16:creationId xmlns:a16="http://schemas.microsoft.com/office/drawing/2014/main" id="{E519D9DF-1A8A-9645-3B7F-5BFE79FB1E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53999" y="761624"/>
            <a:ext cx="9484002" cy="5334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8473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59F6087-EF50-43EF-E645-08A0AB948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/>
          </a:p>
        </p:txBody>
      </p:sp>
      <p:pic>
        <p:nvPicPr>
          <p:cNvPr id="5" name="Symbol zastępczy zawartości 4" descr="Obraz zawierający tekst, zrzut ekranu, diagram, linia&#10;&#10;Zawartość wygenerowana przez AI może być niepoprawna.">
            <a:extLst>
              <a:ext uri="{FF2B5EF4-FFF2-40B4-BE49-F238E27FC236}">
                <a16:creationId xmlns:a16="http://schemas.microsoft.com/office/drawing/2014/main" id="{F4092D00-88A1-8E1F-6E67-355FE5A894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06809" y="603452"/>
            <a:ext cx="9066149" cy="5556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56323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630910C-8B2E-25F0-2558-61E1EBC5B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6FF7449-0489-4FA8-C041-DC871AAB89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  <p:pic>
        <p:nvPicPr>
          <p:cNvPr id="5" name="Obraz 4" descr="Obraz zawierający tekst, zrzut ekranu, diagram, linia&#10;&#10;Zawartość wygenerowana przez AI może być niepoprawna.">
            <a:extLst>
              <a:ext uri="{FF2B5EF4-FFF2-40B4-BE49-F238E27FC236}">
                <a16:creationId xmlns:a16="http://schemas.microsoft.com/office/drawing/2014/main" id="{9C282AB9-D306-234F-0FD4-719F959AFC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791" y="487985"/>
            <a:ext cx="10175242" cy="6146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51523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D3075BE-81D0-BC45-0684-498CC667B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C6CD9D8-CF6D-28BB-E540-2C459C7E30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  <p:pic>
        <p:nvPicPr>
          <p:cNvPr id="5" name="Obraz 4" descr="Obraz zawierający tekst, linia, zrzut ekranu, Wykres&#10;&#10;Zawartość wygenerowana przez AI może być niepoprawna.">
            <a:extLst>
              <a:ext uri="{FF2B5EF4-FFF2-40B4-BE49-F238E27FC236}">
                <a16:creationId xmlns:a16="http://schemas.microsoft.com/office/drawing/2014/main" id="{1C9D9A31-7507-8E89-14ED-2AD296D149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602" y="830762"/>
            <a:ext cx="11424796" cy="5196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04253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5DE11F7-B4A1-3E82-1B8A-BCC9548AF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760CE16B-D951-E3D2-FAAF-BB7473E5AB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  <p:pic>
        <p:nvPicPr>
          <p:cNvPr id="5" name="Obraz 4" descr="Obraz zawierający tekst, zrzut ekranu, diagram, linia&#10;&#10;Zawartość wygenerowana przez AI może być niepoprawna.">
            <a:extLst>
              <a:ext uri="{FF2B5EF4-FFF2-40B4-BE49-F238E27FC236}">
                <a16:creationId xmlns:a16="http://schemas.microsoft.com/office/drawing/2014/main" id="{CE94D5FD-D14D-A343-4D6A-631FC8E70A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452" y="0"/>
            <a:ext cx="113830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7506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DD9AC-9AA1-E1BC-BC9E-C403B97CF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8">
            <a:extLst>
              <a:ext uri="{FF2B5EF4-FFF2-40B4-BE49-F238E27FC236}">
                <a16:creationId xmlns:a16="http://schemas.microsoft.com/office/drawing/2014/main" id="{174E3E04-D3D6-5B3C-95EC-C5338CC81A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10">
            <a:extLst>
              <a:ext uri="{FF2B5EF4-FFF2-40B4-BE49-F238E27FC236}">
                <a16:creationId xmlns:a16="http://schemas.microsoft.com/office/drawing/2014/main" id="{568D905E-9710-716C-E0C4-119D3E97D0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270325" y="3369273"/>
            <a:ext cx="32004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12">
            <a:extLst>
              <a:ext uri="{FF2B5EF4-FFF2-40B4-BE49-F238E27FC236}">
                <a16:creationId xmlns:a16="http://schemas.microsoft.com/office/drawing/2014/main" id="{F87E3D37-E35C-B331-EB7D-CC6581CD16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374475" y="1040470"/>
            <a:ext cx="6858003" cy="477704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14">
            <a:extLst>
              <a:ext uri="{FF2B5EF4-FFF2-40B4-BE49-F238E27FC236}">
                <a16:creationId xmlns:a16="http://schemas.microsoft.com/office/drawing/2014/main" id="{3D22EF20-83EC-7CF1-FA1B-8B35147C19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7914" y="857786"/>
            <a:ext cx="11067024" cy="520893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6913A18-FC55-0965-40F5-CF194730E5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765674" y="2590317"/>
            <a:ext cx="8311504" cy="85199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0" algn="ctr" fontAlgn="base">
              <a:spcAft>
                <a:spcPct val="0"/>
              </a:spcAft>
              <a:buClrTx/>
              <a:buSzTx/>
              <a:tabLst/>
            </a:pPr>
            <a:r>
              <a:rPr kumimoji="0" lang="pl-PL" sz="4800" b="0" i="0" u="none" strike="noStrike" kern="1200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Dziękuję za uwagę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D3F1D30-9D05-BC3F-3F28-2F2E7A1CF9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524009" y="3366125"/>
            <a:ext cx="32004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4763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Motyw pakietu Office 2013–2022">
  <a:themeElements>
    <a:clrScheme name="Motyw pakietu Office 2013–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Motyw pakietu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otyw pakietu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AE6F2518-B084-4896-AF52-66CC2144AA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3269</TotalTime>
  <Words>109</Words>
  <Application>Microsoft Macintosh PowerPoint</Application>
  <PresentationFormat>Panoramiczny</PresentationFormat>
  <Paragraphs>14</Paragraphs>
  <Slides>25</Slides>
  <Notes>0</Notes>
  <HiddenSlides>0</HiddenSlides>
  <MMClips>1</MMClips>
  <ScaleCrop>false</ScaleCrop>
  <HeadingPairs>
    <vt:vector size="6" baseType="variant">
      <vt:variant>
        <vt:lpstr>Używane czcionki</vt:lpstr>
      </vt:variant>
      <vt:variant>
        <vt:i4>4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25</vt:i4>
      </vt:variant>
    </vt:vector>
  </HeadingPairs>
  <TitlesOfParts>
    <vt:vector size="30" baseType="lpstr">
      <vt:lpstr>Arial</vt:lpstr>
      <vt:lpstr>Calibri</vt:lpstr>
      <vt:lpstr>Calibri Light</vt:lpstr>
      <vt:lpstr>Times New Roman</vt:lpstr>
      <vt:lpstr>Motyw pakietu Office 2013–2022</vt:lpstr>
      <vt:lpstr>Model zjawiska piezoelektrycznego w  układzie pojedynczym i bimorficznym</vt:lpstr>
      <vt:lpstr>Prezentacja programu PowerPoint</vt:lpstr>
      <vt:lpstr>Prezentacja programu PowerPoint</vt:lpstr>
      <vt:lpstr>Układ pojedynczy  Belka- tytan  Piezo- polimer Masa - tungsten </vt:lpstr>
      <vt:lpstr>Max 18,84 Hz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Układ bimorficzny  Belka- tytan  Piezo- polimer Masa - tungsten 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Dziękuję za uwagę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Kocon Zuzanna (STUD)</dc:creator>
  <cp:lastModifiedBy>Kocon Lidia (STUD)</cp:lastModifiedBy>
  <cp:revision>6</cp:revision>
  <dcterms:created xsi:type="dcterms:W3CDTF">2025-12-04T19:40:42Z</dcterms:created>
  <dcterms:modified xsi:type="dcterms:W3CDTF">2026-01-22T10:43:48Z</dcterms:modified>
</cp:coreProperties>
</file>